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b364f66631848fe" /><Relationship Type="http://schemas.openxmlformats.org/officeDocument/2006/relationships/extended-properties" Target="/docProps/app.xml" Id="R6553d0f0048549fc" /><Relationship Type="http://schemas.openxmlformats.org/officeDocument/2006/relationships/officeDocument" Target="/ppt/presentation.xml" Id="R1f7ff563599544f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accfc78f97d4083"/>
  </p:sldMasterIdLst>
  <p:notesMasterIdLst>
    <p:notesMasterId xmlns:r="http://schemas.openxmlformats.org/officeDocument/2006/relationships" r:id="R69bc89553e8d4f0f"/>
  </p:notesMasterIdLst>
  <p:sldIdLst>
    <p:sldId xmlns:r="http://schemas.openxmlformats.org/officeDocument/2006/relationships" id="256" r:id="Rc661042948d340fc"/>
    <p:sldId xmlns:r="http://schemas.openxmlformats.org/officeDocument/2006/relationships" id="257" r:id="R3e814a5009b4429e"/>
    <p:sldId xmlns:r="http://schemas.openxmlformats.org/officeDocument/2006/relationships" id="258" r:id="Re7ad7f1606c74e17"/>
    <p:sldId xmlns:r="http://schemas.openxmlformats.org/officeDocument/2006/relationships" id="259" r:id="R288445d0bd7b47fa"/>
    <p:sldId xmlns:r="http://schemas.openxmlformats.org/officeDocument/2006/relationships" id="260" r:id="R82e1918b171045e0"/>
    <p:sldId xmlns:r="http://schemas.openxmlformats.org/officeDocument/2006/relationships" id="261" r:id="Rdac4f30aaff44c20"/>
    <p:sldId xmlns:r="http://schemas.openxmlformats.org/officeDocument/2006/relationships" id="262" r:id="Re54e992c48e54511"/>
    <p:sldId xmlns:r="http://schemas.openxmlformats.org/officeDocument/2006/relationships" id="263" r:id="R4a9c0745e1b844c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ccfc78f97d4083" /><Relationship Type="http://schemas.openxmlformats.org/officeDocument/2006/relationships/theme" Target="/ppt/theme/theme1.xml" Id="R59b1263d82894f46" /><Relationship Type="http://schemas.openxmlformats.org/officeDocument/2006/relationships/notesMaster" Target="/ppt/notesMasters/notesMaster1.xml" Id="R69bc89553e8d4f0f" /><Relationship Type="http://schemas.openxmlformats.org/officeDocument/2006/relationships/presProps" Target="/ppt/presProps.xml" Id="R3e59103774b84f2d" /><Relationship Type="http://schemas.openxmlformats.org/officeDocument/2006/relationships/viewProps" Target="/ppt/viewProps.xml" Id="Recf36a85ed7e4b56" /><Relationship Type="http://schemas.openxmlformats.org/officeDocument/2006/relationships/tableStyles" Target="/ppt/tableStyles.xml" Id="Ra0a6d273fbfa49ee" /><Relationship Type="http://schemas.openxmlformats.org/officeDocument/2006/relationships/slide" Target="/ppt/slides/slide1.xml" Id="Rc661042948d340fc" /><Relationship Type="http://schemas.openxmlformats.org/officeDocument/2006/relationships/slide" Target="/ppt/slides/slide2.xml" Id="R3e814a5009b4429e" /><Relationship Type="http://schemas.openxmlformats.org/officeDocument/2006/relationships/slide" Target="/ppt/slides/slide3.xml" Id="Re7ad7f1606c74e17" /><Relationship Type="http://schemas.openxmlformats.org/officeDocument/2006/relationships/slide" Target="/ppt/slides/slide4.xml" Id="R288445d0bd7b47fa" /><Relationship Type="http://schemas.openxmlformats.org/officeDocument/2006/relationships/slide" Target="/ppt/slides/slide5.xml" Id="R82e1918b171045e0" /><Relationship Type="http://schemas.openxmlformats.org/officeDocument/2006/relationships/slide" Target="/ppt/slides/slide6.xml" Id="Rdac4f30aaff44c20" /><Relationship Type="http://schemas.openxmlformats.org/officeDocument/2006/relationships/slide" Target="/ppt/slides/slide7.xml" Id="Re54e992c48e54511" /><Relationship Type="http://schemas.openxmlformats.org/officeDocument/2006/relationships/slide" Target="/ppt/slides/slide8.xml" Id="R4a9c0745e1b844c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32c016169e5f4d7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0c6bf397592469d" /><Relationship Type="http://schemas.openxmlformats.org/officeDocument/2006/relationships/notesMaster" Target="/ppt/notesMasters/notesMaster1.xml" Id="Ref8bd5566f8c4a3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40eb17b327f45d0" /><Relationship Type="http://schemas.openxmlformats.org/officeDocument/2006/relationships/notesMaster" Target="/ppt/notesMasters/notesMaster1.xml" Id="R3d1b4cedbacb4f0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37024b142bb4422" /><Relationship Type="http://schemas.openxmlformats.org/officeDocument/2006/relationships/notesMaster" Target="/ppt/notesMasters/notesMaster1.xml" Id="R85afa2d619f8401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8ee244d52cb4c0d" /><Relationship Type="http://schemas.openxmlformats.org/officeDocument/2006/relationships/notesMaster" Target="/ppt/notesMasters/notesMaster1.xml" Id="R1acf2b3c34d44c8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aee15f6ba724153" /><Relationship Type="http://schemas.openxmlformats.org/officeDocument/2006/relationships/notesMaster" Target="/ppt/notesMasters/notesMaster1.xml" Id="R3b3b039edfee4c3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36770d1b4104650" /><Relationship Type="http://schemas.openxmlformats.org/officeDocument/2006/relationships/notesMaster" Target="/ppt/notesMasters/notesMaster1.xml" Id="Rd43af0900bf5448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faabe1d34e24b13" /><Relationship Type="http://schemas.openxmlformats.org/officeDocument/2006/relationships/notesMaster" Target="/ppt/notesMasters/notesMaster1.xml" Id="R2dc5683c36c8496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7447d0a379e4d55" /><Relationship Type="http://schemas.openxmlformats.org/officeDocument/2006/relationships/notesMaster" Target="/ppt/notesMasters/notesMaster1.xml" Id="R7a2c1d6523964b6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by anchoring the demo in your real open-source work. The point is that Solace is the coordination fabric, not a random broker bolted onto a chatbot.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Frame the pain: incidents are rarely contained to one system. The value is not simply generating SQL; the value is coordinating reliable investigation across systems.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Make this personal: these are not pretend agents. You are taking real open-source work and showing how it fits into Solace's event-driven agent story.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main architecture slide. Emphasize loose coupling and the production path: producers publish business events, Solace handles routing, Agent Mesh handles task delegation.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makes the demo concrete. Solace people will care that you thought in topics, queues, and workflow contracts, not only in Python calls.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this demo crisp. Run it once. Then explain how the same topic contract maps onto Solace Cloud queues and Agent Mesh components.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an important credibility slide. It prevents the demo from feeling like autonomous agents are making unbounded production changes.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with a roadmap and invite technical questions. Be honest that the first demo is reliable simulation plus clear integration boundary.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6c15b8a96f46f2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5951d45630834694" /><Relationship Type="http://schemas.openxmlformats.org/officeDocument/2006/relationships/slideLayout" Target="/ppt/slideLayouts/slideLayout2.xml" Id="R2209f10c394b4e0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209f10c394b4e0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c94ae07e0024a79" /><Relationship Type="http://schemas.openxmlformats.org/officeDocument/2006/relationships/notesSlide" Target="/ppt/notesSlides/notesSlide1.xml" Id="R49e084d369174d9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fccd4d542e94d12" /><Relationship Type="http://schemas.openxmlformats.org/officeDocument/2006/relationships/notesSlide" Target="/ppt/notesSlides/notesSlide2.xml" Id="R79ecadddb76a44e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2bc5d7914664a30" /><Relationship Type="http://schemas.openxmlformats.org/officeDocument/2006/relationships/notesSlide" Target="/ppt/notesSlides/notesSlide3.xml" Id="Rb4b6c02b9ef9441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469b8db646d440b" /><Relationship Type="http://schemas.openxmlformats.org/officeDocument/2006/relationships/notesSlide" Target="/ppt/notesSlides/notesSlide4.xml" Id="R34f6e6a85c54422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5330762d36040a0" /><Relationship Type="http://schemas.openxmlformats.org/officeDocument/2006/relationships/notesSlide" Target="/ppt/notesSlides/notesSlide5.xml" Id="Ra60182ca452c444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c8d43f9fdae4b3a" /><Relationship Type="http://schemas.openxmlformats.org/officeDocument/2006/relationships/notesSlide" Target="/ppt/notesSlides/notesSlide6.xml" Id="Ra09b261668de4a0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81b4fe8d2c14f47" /><Relationship Type="http://schemas.openxmlformats.org/officeDocument/2006/relationships/notesSlide" Target="/ppt/notesSlides/notesSlide7.xml" Id="Re230faf9c22f48c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dac75c2cf574794" /><Relationship Type="http://schemas.openxmlformats.org/officeDocument/2006/relationships/notesSlide" Target="/ppt/notesSlides/notesSlide8.xml" Id="R4f57282081084e6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938D29C-D1CB-4813-A48E-85C6AF53B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A"/>
          </a:solidFill>
          <a:ln xmlns:a="http://schemas.openxmlformats.org/drawingml/2006/main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65A355-5426-4093-9FD4-C773BB26C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8F"/>
          </a:solidFill>
          <a:ln xmlns:a="http://schemas.openxmlformats.org/drawingml/2006/main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53791A-531F-48DD-9C7A-1AB54CE6F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29527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5232B"/>
          </a:solidFill>
          <a:ln xmlns:a="http://schemas.openxmlformats.org/drawingml/2006/main">
            <a:noFill/>
          </a:ln>
        </p:spPr>
        <p:txBody>
          <a:bodyPr xmlns:a="http://schemas.openxmlformats.org/drawingml/2006/main" lIns="57150" tIns="0" rIns="5715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Mick + Frosty + Solace Agent Mesh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FEDE44-EC10-46D0-BD6E-83FEBDB79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68580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02027"/>
                </a:solidFill>
                <a:latin typeface="Aptos"/>
                <a:ea typeface="Aptos"/>
                <a:cs typeface="Aptos"/>
              </a:defRPr>
            </a:pPr>
            <a:r>
              <a:rPr sz="4350" b="1">
                <a:solidFill>
                  <a:srgbClr val="102027"/>
                </a:solidFill>
                <a:latin typeface="Aptos"/>
                <a:ea typeface="Aptos"/>
                <a:cs typeface="Aptos"/>
              </a:rPr>
              <a:t>Event-Driven</a:t>
            </a:r>
          </a:p>
          <a:p xmlns:a="http://schemas.openxmlformats.org/drawingml/2006/main">
            <a:pPr algn="l">
              <a:defRPr sz="4350" b="1">
                <a:solidFill>
                  <a:srgbClr val="102027"/>
                </a:solidFill>
                <a:latin typeface="Aptos"/>
                <a:ea typeface="Aptos"/>
                <a:cs typeface="Aptos"/>
              </a:defRPr>
            </a:pPr>
            <a:r>
              <a:rPr sz="4350" b="1">
                <a:solidFill>
                  <a:srgbClr val="102027"/>
                </a:solidFill>
                <a:latin typeface="Aptos"/>
                <a:ea typeface="Aptos"/>
                <a:cs typeface="Aptos"/>
              </a:rPr>
              <a:t>DataOps Agent Mesh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DFCC63-425F-4BF3-A633-F0701294F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00400"/>
            <a:ext cx="6286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1646D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51646D"/>
                </a:solidFill>
                <a:latin typeface="Aptos"/>
                <a:ea typeface="Aptos"/>
                <a:cs typeface="Aptos"/>
              </a:rPr>
              <a:t>Using Solace to orchestrate PostgreSQL and Snowflake agents during production incidents.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01642E-F224-455F-96D9-0D7C08125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066800"/>
            <a:ext cx="34290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5D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AA6E0C-1E28-4F40-877A-9DDC37DF6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066800"/>
            <a:ext cx="571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8F"/>
          </a:solidFill>
          <a:ln xmlns:a="http://schemas.openxmlformats.org/drawingml/2006/main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6CC590-99DA-4844-BC3A-8B82D93B0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257300"/>
            <a:ext cx="3009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02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027"/>
                </a:solidFill>
                <a:latin typeface="Aptos"/>
                <a:ea typeface="Aptos"/>
                <a:cs typeface="Aptos"/>
              </a:rPr>
              <a:t>Demo thesis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AAAC84-5F1B-4F81-8FCD-F764091F8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19250"/>
            <a:ext cx="30099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46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1646D"/>
                </a:solidFill>
                <a:latin typeface="Aptos"/>
                <a:ea typeface="Aptos"/>
                <a:cs typeface="Aptos"/>
              </a:rPr>
              <a:t>Existing database agents become more valuable when Solace turns them into decoupled, governed, event-driven enterprise workflows.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30DBFD-FF42-4D9E-BF58-1C6160F08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181350"/>
            <a:ext cx="34290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5D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2CF41B-4A78-4C77-A603-DD39B5764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181350"/>
            <a:ext cx="571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FF"/>
          </a:solidFill>
          <a:ln xmlns:a="http://schemas.openxmlformats.org/drawingml/2006/main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F2592A-A366-4E92-9844-BC84F74E3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371850"/>
            <a:ext cx="3009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02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027"/>
                </a:solidFill>
                <a:latin typeface="Aptos"/>
                <a:ea typeface="Aptos"/>
                <a:cs typeface="Aptos"/>
              </a:rPr>
              <a:t>Live artifact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DD664F-BB8B-4D48-8349-0BE16044E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733800"/>
            <a:ext cx="3009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46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1646D"/>
                </a:solidFill>
                <a:latin typeface="Aptos"/>
                <a:ea typeface="Aptos"/>
                <a:cs typeface="Aptos"/>
              </a:rPr>
              <a:t>A local simulation publishes incident events through the same topic contract that will map to Solace Cloud and Agent Mesh.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573658-7DF5-4FBD-9064-90566CDC5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A8A9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A8A92"/>
                </a:solidFill>
                <a:latin typeface="Aptos"/>
                <a:ea typeface="Aptos"/>
                <a:cs typeface="Aptos"/>
              </a:rPr>
              <a:t>Priyank Malviya | Event-Driven DataOps Agent Mesh | 01</a:t>
            </a:r>
          </a:p>
        </p:txBody>
      </p:sp>
    </p:spTree>
    <p:extLst>
      <p:ext uri="{BB962C8B-B14F-4D97-AF65-F5344CB8AC3E}">
        <p14:creationId xmlns:p14="http://schemas.microsoft.com/office/powerpoint/2010/main" val="15702019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53C8F83-C00B-4DC9-B03B-1C59693C4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DB31D0-5A38-482B-BC37-2B82139D4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A88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A88F"/>
                </a:solidFill>
                <a:latin typeface="Aptos"/>
                <a:ea typeface="Aptos"/>
                <a:cs typeface="Aptos"/>
              </a:rPr>
              <a:t>PROBLEM OVERVIEW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3A305A-BF4A-4F34-B2FE-A37900CD1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8096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96544"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02027"/>
                </a:solidFill>
                <a:latin typeface="Aptos"/>
                <a:ea typeface="Aptos"/>
                <a:cs typeface="Aptos"/>
              </a:defRPr>
            </a:pPr>
            <a:r>
              <a:rPr sz="2475" b="1">
                <a:solidFill>
                  <a:srgbClr val="102027"/>
                </a:solidFill>
                <a:latin typeface="Aptos"/>
                <a:ea typeface="Aptos"/>
                <a:cs typeface="Aptos"/>
              </a:rPr>
              <a:t>The incident crosses operational and analytical systems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9ED522-D263-4E75-8075-4692FE095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5DB"/>
          </a:solidFill>
          <a:ln xmlns:a="http://schemas.openxmlformats.org/drawingml/2006/main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C43814-5B51-40E0-8FB2-622E5E083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90700"/>
            <a:ext cx="323850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5D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10041D-0C39-4852-875D-A7DA0F445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90700"/>
            <a:ext cx="571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3F3F"/>
          </a:solidFill>
          <a:ln xmlns:a="http://schemas.openxmlformats.org/drawingml/2006/main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7BDDBC-26A9-4668-83FB-7B8D21E24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981200"/>
            <a:ext cx="2819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02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027"/>
                </a:solidFill>
                <a:latin typeface="Aptos"/>
                <a:ea typeface="Aptos"/>
                <a:cs typeface="Aptos"/>
              </a:rPr>
              <a:t>Checkout API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73DB51-9211-421B-83BA-0E231E99D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343150"/>
            <a:ext cx="28194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46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1646D"/>
                </a:solidFill>
                <a:latin typeface="Aptos"/>
                <a:ea typeface="Aptos"/>
                <a:cs typeface="Aptos"/>
              </a:rPr>
              <a:t>p95 latency jumps from 480ms to 3200ms. Order write failures rise to 8%.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92DF5A-52A2-44BE-9107-91C13AC9B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790700"/>
            <a:ext cx="323850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5D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182354-F959-4679-B9FC-41BD5092E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790700"/>
            <a:ext cx="571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278698-27F4-4DB4-890F-FED7E5AFD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981200"/>
            <a:ext cx="2819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02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027"/>
                </a:solidFill>
                <a:latin typeface="Aptos"/>
                <a:ea typeface="Aptos"/>
                <a:cs typeface="Aptos"/>
              </a:rPr>
              <a:t>PostgreSQL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CAAC23-3EF8-4DBD-81AE-6E9188AD8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343150"/>
            <a:ext cx="28194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46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1646D"/>
                </a:solidFill>
                <a:latin typeface="Aptos"/>
                <a:ea typeface="Aptos"/>
                <a:cs typeface="Aptos"/>
              </a:rPr>
              <a:t>Operational symptoms point to lock contention and slow order-write transactions.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B97934-BBF9-4804-8A65-B7F5CD742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790700"/>
            <a:ext cx="323850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5D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185D0F-E4D4-4181-8573-20C0912AC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790700"/>
            <a:ext cx="571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FF"/>
          </a:solidFill>
          <a:ln xmlns:a="http://schemas.openxmlformats.org/drawingml/2006/main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2C590E-9ECA-4778-A424-49D9D99BB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981200"/>
            <a:ext cx="2819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02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027"/>
                </a:solidFill>
                <a:latin typeface="Aptos"/>
                <a:ea typeface="Aptos"/>
                <a:cs typeface="Aptos"/>
              </a:rPr>
              <a:t>Snowflake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8D3A0C-DB63-4826-AD78-7B8F5C910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343150"/>
            <a:ext cx="28194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46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1646D"/>
                </a:solidFill>
                <a:latin typeface="Aptos"/>
                <a:ea typeface="Aptos"/>
                <a:cs typeface="Aptos"/>
              </a:rPr>
              <a:t>Analytics dashboards are stale, but the warehouse itself may not be the bottleneck.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90AEBB-E2E8-49E5-8330-9FF364F24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552700"/>
            <a:ext cx="4381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1646D"/>
          </a:solidFill>
          <a:ln xmlns:a="http://schemas.openxmlformats.org/drawingml/2006/main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DFB768-0AA0-4286-BEDC-EAB4BB51B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552700"/>
            <a:ext cx="4381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1646D"/>
          </a:solidFill>
          <a:ln xmlns:a="http://schemas.openxmlformats.org/drawingml/2006/main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CC6C29-C7C2-47E4-8FB4-742BB02FD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343400"/>
            <a:ext cx="9144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02027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02027"/>
                </a:solidFill>
                <a:latin typeface="Aptos"/>
                <a:ea typeface="Aptos"/>
                <a:cs typeface="Aptos"/>
              </a:rPr>
              <a:t>Without an event-driven mesh, the operator manually jumps between tools, agents, logs, SQL consoles, and notification channels.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D689A7-3E48-4514-994A-802FAD227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A8A9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A8A92"/>
                </a:solidFill>
                <a:latin typeface="Aptos"/>
                <a:ea typeface="Aptos"/>
                <a:cs typeface="Aptos"/>
              </a:rPr>
              <a:t>Priyank Malviya | Event-Driven DataOps Agent Mesh | 02</a:t>
            </a:r>
          </a:p>
        </p:txBody>
      </p:sp>
    </p:spTree>
    <p:extLst>
      <p:ext uri="{BB962C8B-B14F-4D97-AF65-F5344CB8AC3E}">
        <p14:creationId xmlns:p14="http://schemas.microsoft.com/office/powerpoint/2010/main" val="153828864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859B8EB-EB08-4E0E-9794-F7555D754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A"/>
          </a:solidFill>
          <a:ln xmlns:a="http://schemas.openxmlformats.org/drawingml/2006/main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EA2CAF-6A39-4D22-A1F7-9D87B6B5C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A88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A88F"/>
                </a:solidFill>
                <a:latin typeface="Aptos"/>
                <a:ea typeface="Aptos"/>
                <a:cs typeface="Aptos"/>
              </a:rPr>
              <a:t>OPEN-SOURCE ASSETS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A16A8C-1173-48BA-8724-787860A4E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8096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87723"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02027"/>
                </a:solidFill>
                <a:latin typeface="Aptos"/>
                <a:ea typeface="Aptos"/>
                <a:cs typeface="Aptos"/>
              </a:defRPr>
            </a:pPr>
            <a:r>
              <a:rPr sz="2475" b="1">
                <a:solidFill>
                  <a:srgbClr val="102027"/>
                </a:solidFill>
                <a:latin typeface="Aptos"/>
                <a:ea typeface="Aptos"/>
                <a:cs typeface="Aptos"/>
              </a:rPr>
              <a:t>The foundation already exists: two specialist database agents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352784-6CA8-48CB-8610-A93D84F10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5DB"/>
          </a:solidFill>
          <a:ln xmlns:a="http://schemas.openxmlformats.org/drawingml/2006/main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7AA7FF-401D-4BC5-B6BE-21B33F626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52600"/>
            <a:ext cx="47625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5D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B842E2-59B0-4394-ACCF-CD3AECCB2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52600"/>
            <a:ext cx="571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4C"/>
          </a:solidFill>
          <a:ln xmlns:a="http://schemas.openxmlformats.org/drawingml/2006/main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7BAE78-66D9-4845-8C47-AD1239AE6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43100"/>
            <a:ext cx="4343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02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027"/>
                </a:solidFill>
                <a:latin typeface="Aptos"/>
                <a:ea typeface="Aptos"/>
                <a:cs typeface="Aptos"/>
              </a:rPr>
              <a:t>Mick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B041FA-2CB5-48D7-B54C-B47945C53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305050"/>
            <a:ext cx="434340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46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1646D"/>
                </a:solidFill>
                <a:latin typeface="Aptos"/>
                <a:ea typeface="Aptos"/>
                <a:cs typeface="Aptos"/>
              </a:rPr>
              <a:t>Autonomous PostgreSQL agent.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51646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1646D"/>
                </a:solidFill>
                <a:latin typeface="Aptos"/>
                <a:ea typeface="Aptos"/>
                <a:cs typeface="Aptos"/>
              </a:rPr>
              <a:t>Investigates slow queries, schema health, security, replication, and operational database issues with safety gates.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9BE78B-1C8C-4437-A7A8-A7B88AC46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752600"/>
            <a:ext cx="47625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5D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CF050C-3CB0-49B8-92E8-A87EB8300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752600"/>
            <a:ext cx="571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FF"/>
          </a:solidFill>
          <a:ln xmlns:a="http://schemas.openxmlformats.org/drawingml/2006/main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14216D-46F0-4CD3-ADB2-76BFA125B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943100"/>
            <a:ext cx="4343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02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027"/>
                </a:solidFill>
                <a:latin typeface="Aptos"/>
                <a:ea typeface="Aptos"/>
                <a:cs typeface="Aptos"/>
              </a:rPr>
              <a:t>Frosty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DE75FF-4F29-4388-BEF0-CD5106EFE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305050"/>
            <a:ext cx="434340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46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1646D"/>
                </a:solidFill>
                <a:latin typeface="Aptos"/>
                <a:ea typeface="Aptos"/>
                <a:cs typeface="Aptos"/>
              </a:rPr>
              <a:t>Autonomous Snowflake agent.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51646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1646D"/>
                </a:solidFill>
                <a:latin typeface="Aptos"/>
                <a:ea typeface="Aptos"/>
                <a:cs typeface="Aptos"/>
              </a:rPr>
              <a:t>Investigates pipelines, warehouse health, governance, data quality, cost, and analytical operations with safety gates.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E0A209-90FA-460D-A646-D0B7755E2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124450"/>
            <a:ext cx="9486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02027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02027"/>
                </a:solidFill>
                <a:latin typeface="Aptos"/>
                <a:ea typeface="Aptos"/>
                <a:cs typeface="Aptos"/>
              </a:rPr>
              <a:t>Solace adds the enterprise integration layer: routing, orchestration, access boundaries, async workflows, and multi-agent composition.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90571B-AB7C-4773-8E4D-B7AF76BD3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A8A9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A8A92"/>
                </a:solidFill>
                <a:latin typeface="Aptos"/>
                <a:ea typeface="Aptos"/>
                <a:cs typeface="Aptos"/>
              </a:rPr>
              <a:t>Priyank Malviya | Event-Driven DataOps Agent Mesh | 03</a:t>
            </a:r>
          </a:p>
        </p:txBody>
      </p:sp>
    </p:spTree>
    <p:extLst>
      <p:ext uri="{BB962C8B-B14F-4D97-AF65-F5344CB8AC3E}">
        <p14:creationId xmlns:p14="http://schemas.microsoft.com/office/powerpoint/2010/main" val="34295054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332A8B5-FBFF-424E-A458-F2CBC479D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FD1C03-5DF1-476A-A1B0-363F03191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A88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A88F"/>
                </a:solidFill>
                <a:latin typeface="Aptos"/>
                <a:ea typeface="Aptos"/>
                <a:cs typeface="Aptos"/>
              </a:rPr>
              <a:t>ARCHITECTURE WITH SOLACE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D9EEBB-D7BF-4AF5-8099-F2B33C422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8096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02027"/>
                </a:solidFill>
                <a:latin typeface="Aptos"/>
                <a:ea typeface="Aptos"/>
                <a:cs typeface="Aptos"/>
              </a:defRPr>
            </a:pPr>
            <a:r>
              <a:rPr sz="2475" b="1">
                <a:solidFill>
                  <a:srgbClr val="102027"/>
                </a:solidFill>
                <a:latin typeface="Aptos"/>
                <a:ea typeface="Aptos"/>
                <a:cs typeface="Aptos"/>
              </a:rPr>
              <a:t>Architecture: Solace coordinates the agent mesh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53F701-BFA2-4725-9F05-99A1A89CC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5DB"/>
          </a:solidFill>
          <a:ln xmlns:a="http://schemas.openxmlformats.org/drawingml/2006/main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D152AC-7510-452C-81FF-AB4B9BDF2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33650"/>
            <a:ext cx="1524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5232B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Incident</a:t>
            </a:r>
          </a:p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Producer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B8DAAC-F69D-4093-BAF9-07C45243D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381250"/>
            <a:ext cx="17145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00A88F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Solace Event</a:t>
            </a:r>
          </a:p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Broker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0A75BD-AE4F-4E40-94F1-FE8659AF6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381250"/>
            <a:ext cx="19050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2454FF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Agent Mesh</a:t>
            </a:r>
          </a:p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Orchestrator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81AAD6-16F7-49DC-BF2B-DB45BA0E3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14500"/>
            <a:ext cx="16954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F8A4C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Mick</a:t>
            </a:r>
          </a:p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PostgreSQL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A5C6F4-DDC1-4AB6-B562-3543BD751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429000"/>
            <a:ext cx="16954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2454FF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Frosty</a:t>
            </a:r>
          </a:p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Snowflake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8E74E3-92A4-4068-8198-473AB3573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571750"/>
            <a:ext cx="1428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28C2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Response</a:t>
            </a:r>
          </a:p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Aggregator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ECC636-B50B-40FC-95E1-E477D4243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847975"/>
            <a:ext cx="5715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1646D"/>
          </a:solidFill>
          <a:ln xmlns:a="http://schemas.openxmlformats.org/drawingml/2006/main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C8F3FE-5657-4A9C-A608-A35C937CE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847975"/>
            <a:ext cx="6096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1646D"/>
          </a:solidFill>
          <a:ln xmlns:a="http://schemas.openxmlformats.org/drawingml/2006/main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08518C-2FC5-4B86-AE8E-E98546300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76450"/>
            <a:ext cx="10477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1646D"/>
          </a:solidFill>
          <a:ln xmlns:a="http://schemas.openxmlformats.org/drawingml/2006/main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69627F-5FE1-44CE-A426-838CFEC6F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067050"/>
            <a:ext cx="10477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1646D"/>
          </a:solidFill>
          <a:ln xmlns:a="http://schemas.openxmlformats.org/drawingml/2006/main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7797E0-ECD7-4048-8465-A5C9D9DC2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076450"/>
            <a:ext cx="4381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1646D"/>
          </a:solidFill>
          <a:ln xmlns:a="http://schemas.openxmlformats.org/drawingml/2006/main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D98D8D-2584-426E-8DA4-2EF5E6F8B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105150"/>
            <a:ext cx="4381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1646D"/>
          </a:solidFill>
          <a:ln xmlns:a="http://schemas.openxmlformats.org/drawingml/2006/main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BC594A-D9B1-476B-B792-E53408DDC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067300"/>
            <a:ext cx="94488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94203"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102027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02027"/>
                </a:solidFill>
                <a:latin typeface="Aptos"/>
                <a:ea typeface="Aptos"/>
                <a:cs typeface="Aptos"/>
              </a:rPr>
              <a:t>Topic routing replaces point-to-point coupling. Agents subscribe to work they can handle and publish evidence back to the workflow.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06C99C-30A0-4361-AE11-CE986B14A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A8A9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A8A92"/>
                </a:solidFill>
                <a:latin typeface="Aptos"/>
                <a:ea typeface="Aptos"/>
                <a:cs typeface="Aptos"/>
              </a:rPr>
              <a:t>Priyank Malviya | Event-Driven DataOps Agent Mesh | 04</a:t>
            </a:r>
          </a:p>
        </p:txBody>
      </p:sp>
    </p:spTree>
    <p:extLst>
      <p:ext uri="{BB962C8B-B14F-4D97-AF65-F5344CB8AC3E}">
        <p14:creationId xmlns:p14="http://schemas.microsoft.com/office/powerpoint/2010/main" val="111874050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0D74852-9B2B-4511-B06E-8458849C3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A"/>
          </a:solidFill>
          <a:ln xmlns:a="http://schemas.openxmlformats.org/drawingml/2006/main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AB4286-7BEC-41A3-8C23-92B32FAD2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A88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A88F"/>
                </a:solidFill>
                <a:latin typeface="Aptos"/>
                <a:ea typeface="Aptos"/>
                <a:cs typeface="Aptos"/>
              </a:rPr>
              <a:t>EVENT 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FC08A2-5656-4FAB-87CD-45EEDF3E2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8096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02027"/>
                </a:solidFill>
                <a:latin typeface="Aptos"/>
                <a:ea typeface="Aptos"/>
                <a:cs typeface="Aptos"/>
              </a:defRPr>
            </a:pPr>
            <a:r>
              <a:rPr sz="2475" b="1">
                <a:solidFill>
                  <a:srgbClr val="102027"/>
                </a:solidFill>
                <a:latin typeface="Aptos"/>
                <a:ea typeface="Aptos"/>
                <a:cs typeface="Aptos"/>
              </a:rPr>
              <a:t>The topic contract is the workflow contract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0B05FE-B245-4721-A0B5-4F7EA3580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5DB"/>
          </a:solidFill>
          <a:ln xmlns:a="http://schemas.openxmlformats.org/drawingml/2006/main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4E2BA8-F894-4955-AD3A-D3C781D83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65735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0A88F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FD70DA-E9F9-4114-BEFE-F1BAEC05B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619250"/>
            <a:ext cx="495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02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027"/>
                </a:solidFill>
                <a:latin typeface="Aptos"/>
                <a:ea typeface="Aptos"/>
                <a:cs typeface="Aptos"/>
              </a:rPr>
              <a:t>dataops/incidents/created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6BD3AC-E61E-4B7F-A512-61A26DC72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943100"/>
            <a:ext cx="723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1646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1646D"/>
                </a:solidFill>
                <a:latin typeface="Aptos"/>
                <a:ea typeface="Aptos"/>
                <a:cs typeface="Aptos"/>
              </a:rPr>
              <a:t>Monitoring or REST gateway publishes an incident.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3B9538-5AA7-41D1-A28A-DA374217B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9080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0A88F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523F7F-182B-4F00-A69E-0ADAB9C06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552700"/>
            <a:ext cx="495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02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027"/>
                </a:solidFill>
                <a:latin typeface="Aptos"/>
                <a:ea typeface="Aptos"/>
                <a:cs typeface="Aptos"/>
              </a:rPr>
              <a:t>dataops/postgres/investigate/request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614378-C759-4A27-8899-14CF507F8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876550"/>
            <a:ext cx="723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1646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1646D"/>
                </a:solidFill>
                <a:latin typeface="Aptos"/>
                <a:ea typeface="Aptos"/>
                <a:cs typeface="Aptos"/>
              </a:rPr>
              <a:t>Orchestrator delegates operational DB investigation to Mick.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019FB5-BA38-4064-8BF3-FB2EF0704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2425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0A88F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CEC7B3-3F0B-43C2-A565-5FA0A1C89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486150"/>
            <a:ext cx="495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02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027"/>
                </a:solidFill>
                <a:latin typeface="Aptos"/>
                <a:ea typeface="Aptos"/>
                <a:cs typeface="Aptos"/>
              </a:rPr>
              <a:t>dataops/snowflake/investigate/request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9AAF24-B994-4BC5-8C53-9F3ABACE4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810000"/>
            <a:ext cx="723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1646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1646D"/>
                </a:solidFill>
                <a:latin typeface="Aptos"/>
                <a:ea typeface="Aptos"/>
                <a:cs typeface="Aptos"/>
              </a:rPr>
              <a:t>Orchestrator delegates warehouse investigation to Frosty.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282F7F-96DE-4AE0-AAE5-C47A59909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5770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0A88F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279724-3028-4F4B-944B-5F20EA1F5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419600"/>
            <a:ext cx="495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02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027"/>
                </a:solidFill>
                <a:latin typeface="Aptos"/>
                <a:ea typeface="Aptos"/>
                <a:cs typeface="Aptos"/>
              </a:rPr>
              <a:t>dataops/incidents/resolved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4D3562-5814-41B8-A39C-E3A8BBACC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743450"/>
            <a:ext cx="723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1646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1646D"/>
                </a:solidFill>
                <a:latin typeface="Aptos"/>
                <a:ea typeface="Aptos"/>
                <a:cs typeface="Aptos"/>
              </a:rPr>
              <a:t>Aggregator publishes correlated root cause and actions.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362777-CD1D-4949-8586-2D5AAA941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924050"/>
            <a:ext cx="2857500" cy="21336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5D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DE7F97-AB88-4411-9BF7-A1940A2A6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924050"/>
            <a:ext cx="5715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FF"/>
          </a:solidFill>
          <a:ln xmlns:a="http://schemas.openxmlformats.org/drawingml/2006/main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8EA964-B897-49B3-87DA-F46C2AA85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114550"/>
            <a:ext cx="2438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02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027"/>
                </a:solidFill>
                <a:latin typeface="Aptos"/>
                <a:ea typeface="Aptos"/>
                <a:cs typeface="Aptos"/>
              </a:rPr>
              <a:t>Interview demo move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4825BA-9878-48AF-AE6C-FEBFF7D6C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476500"/>
            <a:ext cx="24384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46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1646D"/>
                </a:solidFill>
                <a:latin typeface="Aptos"/>
                <a:ea typeface="Aptos"/>
                <a:cs typeface="Aptos"/>
              </a:rPr>
              <a:t>Run the local simulation and point out each publish step. The printed flow mirrors the Solace topic design.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8F930B-BBEA-4B64-BE24-DABE9D731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A8A9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A8A92"/>
                </a:solidFill>
                <a:latin typeface="Aptos"/>
                <a:ea typeface="Aptos"/>
                <a:cs typeface="Aptos"/>
              </a:rPr>
              <a:t>Priyank Malviya | Event-Driven DataOps Agent Mesh | 05</a:t>
            </a:r>
          </a:p>
        </p:txBody>
      </p:sp>
    </p:spTree>
    <p:extLst>
      <p:ext uri="{BB962C8B-B14F-4D97-AF65-F5344CB8AC3E}">
        <p14:creationId xmlns:p14="http://schemas.microsoft.com/office/powerpoint/2010/main" val="183743115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6856E67-014A-4D19-9E33-EFCF5DEC4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232E35-FCA1-4427-8E8E-5D54AF0A8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A88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A88F"/>
                </a:solidFill>
                <a:latin typeface="Aptos"/>
                <a:ea typeface="Aptos"/>
                <a:cs typeface="Aptos"/>
              </a:rPr>
              <a:t>DEMO WALKTHROUGH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B90401-EB45-48B0-B28F-23FC93252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8096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94368"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02027"/>
                </a:solidFill>
                <a:latin typeface="Aptos"/>
                <a:ea typeface="Aptos"/>
                <a:cs typeface="Aptos"/>
              </a:defRPr>
            </a:pPr>
            <a:r>
              <a:rPr sz="2475" b="1">
                <a:solidFill>
                  <a:srgbClr val="102027"/>
                </a:solidFill>
                <a:latin typeface="Aptos"/>
                <a:ea typeface="Aptos"/>
                <a:cs typeface="Aptos"/>
              </a:rPr>
              <a:t>Demo: one incident, two agents, one correlated response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5CD97A-F5B1-4317-95AE-68451FAB0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5DB"/>
          </a:solidFill>
          <a:ln xmlns:a="http://schemas.openxmlformats.org/drawingml/2006/main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4D7B38-3425-4B50-ACC6-3E4EC8479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52600"/>
            <a:ext cx="23812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5D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7FD459-3C97-4FC3-8CA1-D64AC55C4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52600"/>
            <a:ext cx="571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32B"/>
          </a:solidFill>
          <a:ln xmlns:a="http://schemas.openxmlformats.org/drawingml/2006/main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24E868-25EF-49E5-81C7-0431D1BB3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943100"/>
            <a:ext cx="1962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02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027"/>
                </a:solidFill>
                <a:latin typeface="Aptos"/>
                <a:ea typeface="Aptos"/>
                <a:cs typeface="Aptos"/>
              </a:rPr>
              <a:t>Trigger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B15A91-61AE-4C7F-95BE-E073D893A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05050"/>
            <a:ext cx="19621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46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1646D"/>
                </a:solidFill>
                <a:latin typeface="Aptos"/>
                <a:ea typeface="Aptos"/>
                <a:cs typeface="Aptos"/>
              </a:rPr>
              <a:t>Publish checkout latency event to the incident topic.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8E5165-736F-4429-904C-E902B9E67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752600"/>
            <a:ext cx="23812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5D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F3A668-4F1A-49D6-AE38-E4384D99B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752600"/>
            <a:ext cx="571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8F"/>
          </a:solidFill>
          <a:ln xmlns:a="http://schemas.openxmlformats.org/drawingml/2006/main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31AC8D-2B2B-4A72-A837-1719EE60A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943100"/>
            <a:ext cx="1962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02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027"/>
                </a:solidFill>
                <a:latin typeface="Aptos"/>
                <a:ea typeface="Aptos"/>
                <a:cs typeface="Aptos"/>
              </a:rPr>
              <a:t>Investigate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B368C8-9D72-4137-9ACF-4EAE706E0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305050"/>
            <a:ext cx="19621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46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1646D"/>
                </a:solidFill>
                <a:latin typeface="Aptos"/>
                <a:ea typeface="Aptos"/>
                <a:cs typeface="Aptos"/>
              </a:rPr>
              <a:t>Mick checks PostgreSQL. Frosty checks Snowflake.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750ED5-1159-4726-88A0-2E10127D0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752600"/>
            <a:ext cx="23812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5D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AD3BCB-8D44-4D68-9A0E-D15154378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752600"/>
            <a:ext cx="571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FF"/>
          </a:solidFill>
          <a:ln xmlns:a="http://schemas.openxmlformats.org/drawingml/2006/main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E76D9B-26E5-4BC8-9D3F-13B995470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943100"/>
            <a:ext cx="1962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02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027"/>
                </a:solidFill>
                <a:latin typeface="Aptos"/>
                <a:ea typeface="Aptos"/>
                <a:cs typeface="Aptos"/>
              </a:rPr>
              <a:t>Correlate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46BC10-7071-47A8-A147-7FBE527DE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19621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46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1646D"/>
                </a:solidFill>
                <a:latin typeface="Aptos"/>
                <a:ea typeface="Aptos"/>
                <a:cs typeface="Aptos"/>
              </a:rPr>
              <a:t>Aggregator separates root cause from downstream symptoms.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95694B-E9C9-4069-B421-BC43C14FD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752600"/>
            <a:ext cx="23812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5D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2DBD46-384C-474B-9574-C49798E89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752600"/>
            <a:ext cx="571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8BBF48-BF92-4E8B-9163-F0EF632DB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943100"/>
            <a:ext cx="1962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02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027"/>
                </a:solidFill>
                <a:latin typeface="Aptos"/>
                <a:ea typeface="Aptos"/>
                <a:cs typeface="Aptos"/>
              </a:rPr>
              <a:t>Act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EC09AB-1E31-4929-B3B7-8EBBF46B6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305050"/>
            <a:ext cx="19621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46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1646D"/>
                </a:solidFill>
                <a:latin typeface="Aptos"/>
                <a:ea typeface="Aptos"/>
                <a:cs typeface="Aptos"/>
              </a:rPr>
              <a:t>Publish report, notification, and approval-gated remediation path.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24F406-3AF2-494E-A2DB-51B3CB630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495550"/>
            <a:ext cx="3429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1646D"/>
          </a:solidFill>
          <a:ln xmlns:a="http://schemas.openxmlformats.org/drawingml/2006/main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CF39D4-A8B8-4C00-A496-487E54228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95550"/>
            <a:ext cx="3429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1646D"/>
          </a:solidFill>
          <a:ln xmlns:a="http://schemas.openxmlformats.org/drawingml/2006/main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D1BA8D0-2D7C-4F10-9A7E-3C320F747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495550"/>
            <a:ext cx="3429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1646D"/>
          </a:solidFill>
          <a:ln xmlns:a="http://schemas.openxmlformats.org/drawingml/2006/main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9EEFA45-FA93-463B-8F93-51B351589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343400"/>
            <a:ext cx="96012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CAD5D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2CB82F3-EBB3-4E2B-A778-AA70660B6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591050"/>
            <a:ext cx="885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02027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02027"/>
                </a:solidFill>
                <a:latin typeface="Aptos"/>
                <a:ea typeface="Aptos"/>
                <a:cs typeface="Aptos"/>
              </a:rPr>
              <a:t>Command: python3 src/dataops_mesh_demo/demo.py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3461258-9BA2-4140-88DF-B9371B804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A8A9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A8A92"/>
                </a:solidFill>
                <a:latin typeface="Aptos"/>
                <a:ea typeface="Aptos"/>
                <a:cs typeface="Aptos"/>
              </a:rPr>
              <a:t>Priyank Malviya | Event-Driven DataOps Agent Mesh | 06</a:t>
            </a:r>
          </a:p>
        </p:txBody>
      </p:sp>
    </p:spTree>
    <p:extLst>
      <p:ext uri="{BB962C8B-B14F-4D97-AF65-F5344CB8AC3E}">
        <p14:creationId xmlns:p14="http://schemas.microsoft.com/office/powerpoint/2010/main" val="207715140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3A96D6F-BD21-41E7-9427-7D6EA8949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A"/>
          </a:solidFill>
          <a:ln xmlns:a="http://schemas.openxmlformats.org/drawingml/2006/main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7B0630-936A-4B2C-99B9-743E59587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A88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A88F"/>
                </a:solidFill>
                <a:latin typeface="Aptos"/>
                <a:ea typeface="Aptos"/>
                <a:cs typeface="Aptos"/>
              </a:rPr>
              <a:t>SAFETY AND CONTROL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56A37C-D4E3-4896-B832-A8E48D68D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8096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02027"/>
                </a:solidFill>
                <a:latin typeface="Aptos"/>
                <a:ea typeface="Aptos"/>
                <a:cs typeface="Aptos"/>
              </a:defRPr>
            </a:pPr>
            <a:r>
              <a:rPr sz="2475" b="1">
                <a:solidFill>
                  <a:srgbClr val="102027"/>
                </a:solidFill>
                <a:latin typeface="Aptos"/>
                <a:ea typeface="Aptos"/>
                <a:cs typeface="Aptos"/>
              </a:rPr>
              <a:t>Governance is designed into the workflow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D90904-3A9C-412A-968F-5AEFF07A0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5DB"/>
          </a:solidFill>
          <a:ln xmlns:a="http://schemas.openxmlformats.org/drawingml/2006/main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B2453D-0FFA-4064-9C58-E1F23F4D4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52600"/>
            <a:ext cx="3000375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5D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BA75BA-CFC5-44DA-8FCA-E71565710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52600"/>
            <a:ext cx="571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4C"/>
          </a:solidFill>
          <a:ln xmlns:a="http://schemas.openxmlformats.org/drawingml/2006/main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E914F7-81B0-40C6-9A77-D309B26AE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943100"/>
            <a:ext cx="25812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02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027"/>
                </a:solidFill>
                <a:latin typeface="Aptos"/>
                <a:ea typeface="Aptos"/>
                <a:cs typeface="Aptos"/>
              </a:rPr>
              <a:t>Read-only first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24EF48-C124-4EBE-9EA1-998B36A6A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305050"/>
            <a:ext cx="2581275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46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1646D"/>
                </a:solidFill>
                <a:latin typeface="Aptos"/>
                <a:ea typeface="Aptos"/>
                <a:cs typeface="Aptos"/>
              </a:rPr>
              <a:t>Investigation agents collect evidence without making database changes by default.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90E883-7818-4712-8B49-F0AEDC43F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752600"/>
            <a:ext cx="3000375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5D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EC2DD3-CF95-48C8-81E6-4C65E7014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752600"/>
            <a:ext cx="571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A887C0-7499-440E-AB1E-C1B4EA2E5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943100"/>
            <a:ext cx="25812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02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027"/>
                </a:solidFill>
                <a:latin typeface="Aptos"/>
                <a:ea typeface="Aptos"/>
                <a:cs typeface="Aptos"/>
              </a:rPr>
              <a:t>Approval events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580BCA-8826-416E-BA2C-9F73E6CB1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305050"/>
            <a:ext cx="2581275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46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1646D"/>
                </a:solidFill>
                <a:latin typeface="Aptos"/>
                <a:ea typeface="Aptos"/>
                <a:cs typeface="Aptos"/>
              </a:rPr>
              <a:t>Risky remediation emits an approval request before executing write operations.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7AE308-D3A7-4A58-986F-69692B2CE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752600"/>
            <a:ext cx="3000375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5D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3E8405-01FE-4D99-99CA-4CF402375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752600"/>
            <a:ext cx="571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FF"/>
          </a:solidFill>
          <a:ln xmlns:a="http://schemas.openxmlformats.org/drawingml/2006/main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B83187-AF69-4B37-9066-C98FE196D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943100"/>
            <a:ext cx="25812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02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027"/>
                </a:solidFill>
                <a:latin typeface="Aptos"/>
                <a:ea typeface="Aptos"/>
                <a:cs typeface="Aptos"/>
              </a:rPr>
              <a:t>Auditable topics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AF052C-014D-4004-B907-D9A1F8C33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305050"/>
            <a:ext cx="2581275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46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1646D"/>
                </a:solidFill>
                <a:latin typeface="Aptos"/>
                <a:ea typeface="Aptos"/>
                <a:cs typeface="Aptos"/>
              </a:rPr>
              <a:t>Every request, result, and approval is visible as an event in the workflow.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2964F2-7022-4ACD-835F-1056189C3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762500"/>
            <a:ext cx="9144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02027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02027"/>
                </a:solidFill>
                <a:latin typeface="Aptos"/>
                <a:ea typeface="Aptos"/>
                <a:cs typeface="Aptos"/>
              </a:rPr>
              <a:t>This maps directly to Mick and Frosty's existing safety-first posture while giving Solace a central role in policy, routing, and observability.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20EF94-F1D7-4CA8-AC46-734C974AF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A8A9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A8A92"/>
                </a:solidFill>
                <a:latin typeface="Aptos"/>
                <a:ea typeface="Aptos"/>
                <a:cs typeface="Aptos"/>
              </a:rPr>
              <a:t>Priyank Malviya | Event-Driven DataOps Agent Mesh | 07</a:t>
            </a:r>
          </a:p>
        </p:txBody>
      </p:sp>
    </p:spTree>
    <p:extLst>
      <p:ext uri="{BB962C8B-B14F-4D97-AF65-F5344CB8AC3E}">
        <p14:creationId xmlns:p14="http://schemas.microsoft.com/office/powerpoint/2010/main" val="39963417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A9F8B97-4AA0-4110-8574-BCEF1F66A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32B"/>
          </a:solidFill>
          <a:ln xmlns:a="http://schemas.openxmlformats.org/drawingml/2006/main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773EFF-4552-4939-8B2A-E53B556F0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4953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Production path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F259A3-C7F1-4E66-AD7C-DD51BD406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478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8F"/>
          </a:solidFill>
          <a:ln xmlns:a="http://schemas.openxmlformats.org/drawingml/2006/main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754576-70C0-40BF-AEBD-19A75DB5C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581150"/>
            <a:ext cx="8191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Replace local bus with Solace Cloud PubSub+ topics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888092-3DE3-46DE-BF4B-231AF851B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145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8F"/>
          </a:solidFill>
          <a:ln xmlns:a="http://schemas.openxmlformats.org/drawingml/2006/main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B3B12C-920D-454B-9B4E-C2BD3B674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247900"/>
            <a:ext cx="8191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Wrap Mick and Frosty as Agent Mesh components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72EF22-6ECF-4129-8FBB-E34A96F89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813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8F"/>
          </a:solidFill>
          <a:ln xmlns:a="http://schemas.openxmlformats.org/drawingml/2006/main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086866-2E94-46F6-93C6-1B3839FA9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914650"/>
            <a:ext cx="8191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Add REST or Slack gateway for incident intake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19F0BE-3F2B-40E2-AD9A-439853C47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480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8F"/>
          </a:solidFill>
          <a:ln xmlns:a="http://schemas.openxmlformats.org/drawingml/2006/main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A64AB1-DFFA-400B-BC97-D09EEF001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581400"/>
            <a:ext cx="8191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Add approval topic before remediation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69813E-21D7-4F96-8FD6-15C76CA83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148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8F"/>
          </a:solidFill>
          <a:ln xmlns:a="http://schemas.openxmlformats.org/drawingml/2006/main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3AE6F6-3847-482B-BF32-E48A0DE9E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248150"/>
            <a:ext cx="8191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Add observability dashboard and replayable event history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CDD1EC-CD19-4471-9281-09212515A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143000"/>
            <a:ext cx="31432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5D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DC732D-D1BC-4EA5-BF9D-FD5753780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143000"/>
            <a:ext cx="571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8F"/>
          </a:solidFill>
          <a:ln xmlns:a="http://schemas.openxmlformats.org/drawingml/2006/main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898667-04CE-4E64-A471-FE88CD265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333500"/>
            <a:ext cx="2724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02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027"/>
                </a:solidFill>
                <a:latin typeface="Aptos"/>
                <a:ea typeface="Aptos"/>
                <a:cs typeface="Aptos"/>
              </a:rPr>
              <a:t>Q&amp;A anchor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A8A14D-919A-435C-B043-87A454411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695450"/>
            <a:ext cx="272415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46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1646D"/>
                </a:solidFill>
                <a:latin typeface="Aptos"/>
                <a:ea typeface="Aptos"/>
                <a:cs typeface="Aptos"/>
              </a:rPr>
              <a:t>The demo is intentionally small, but the architecture scales by adding agents and topic subscriptions instead of rewriting the workflow.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48B121-7919-4B8D-9DB5-CDE6FCC9F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7C5C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7C5CC"/>
                </a:solidFill>
                <a:latin typeface="Aptos"/>
                <a:ea typeface="Aptos"/>
                <a:cs typeface="Aptos"/>
              </a:rPr>
              <a:t>Repos: github.com/Gyrus-Dev/Mick and github.com/Gyrus-Dev/frosty</a:t>
            </a:r>
          </a:p>
        </p:txBody>
      </p:sp>
    </p:spTree>
    <p:extLst>
      <p:ext uri="{BB962C8B-B14F-4D97-AF65-F5344CB8AC3E}">
        <p14:creationId xmlns:p14="http://schemas.microsoft.com/office/powerpoint/2010/main" val="19376123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2026-05-19T22:46:51.0880000Z</dcterms:created>
  <dcterms:modified xsi:type="dcterms:W3CDTF">2026-05-19T22:46:51.0880000Z</dcterms:modified>
</coreProperties>
</file>